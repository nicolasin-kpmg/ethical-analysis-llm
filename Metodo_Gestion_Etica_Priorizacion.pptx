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28016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3E"/>
                </a:solidFill>
                <a:latin typeface="Calibri"/>
              </a:rPr>
              <a:t>FASE DE EXPERIMENTACIÓN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Gestión ética y priorización
de requisitos con 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9D7A0"/>
                </a:solidFill>
                <a:latin typeface="Calibri"/>
              </a:rPr>
              <a:t>Un método de 8 fases para decidir qué construir — y hacerlo 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9C6D8"/>
                </a:solidFill>
                <a:latin typeface="Calibri"/>
              </a:rPr>
              <a:t>Tesis · Nicolás Pérez   |   Universidad San Sebastián   |   Sesión de ~10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POR QUÉ ESTAMOS AQUÍ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Qué van a probar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B2633"/>
                </a:solidFill>
                <a:latin typeface="Calibri"/>
              </a:rPr>
              <a:t>Una herramienta que ayuda a los equipos de software a revisar sus requisitos antes de construirlos: detecta riesgos éticos, propone cómo tratarlos y ordena los requisitos por su valor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3611880" cy="246888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361188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31546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3E"/>
                </a:solidFill>
                <a:latin typeface="Calibri"/>
              </a:rPr>
              <a:t>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F2447"/>
                </a:solidFill>
                <a:latin typeface="Calibri"/>
              </a:rPr>
              <a:t>Detectar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5"/>
                </a:solidFill>
                <a:latin typeface="Calibri"/>
              </a:rPr>
              <a:t>Identifica tensiones éticas que a simple vista no se ven (sesgo, privacidad, opacidad).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200400"/>
            <a:ext cx="3611880" cy="246888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3200400"/>
            <a:ext cx="361188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474720"/>
            <a:ext cx="31546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3E"/>
                </a:solidFill>
                <a:latin typeface="Calibri"/>
              </a:rPr>
              <a:t>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F2447"/>
                </a:solidFill>
                <a:latin typeface="Calibri"/>
              </a:rPr>
              <a:t>Tratar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5"/>
                </a:solidFill>
                <a:latin typeface="Calibri"/>
              </a:rPr>
              <a:t>Propone reformular, mitigar, aceptar o eliminar, con apoyo en normativa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3200400"/>
            <a:ext cx="3611880" cy="246888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3200400"/>
            <a:ext cx="361188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3474720"/>
            <a:ext cx="31546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3E"/>
                </a:solidFill>
                <a:latin typeface="Calibri"/>
              </a:rPr>
              <a:t>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F2447"/>
                </a:solidFill>
                <a:latin typeface="Calibri"/>
              </a:rPr>
              <a:t>Priorizar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5"/>
                </a:solidFill>
                <a:latin typeface="Calibri"/>
              </a:rPr>
              <a:t>Calcula un puntaje que equilibra beneficio y riesgo, y ordena los requisitos.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VISIÓN GENERAL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El método, en cuatro momentos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2606040" cy="265176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60604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2203704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A23E"/>
                </a:solidFill>
                <a:latin typeface="Calibri"/>
              </a:rPr>
              <a:t>Fase 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Registro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7D3E3"/>
                </a:solidFill>
                <a:latin typeface="Calibri"/>
              </a:rPr>
              <a:t>Se cargan el proyecto y sus requisitos.</a:t>
            </a:r>
          </a:p>
        </p:txBody>
      </p:sp>
      <p:sp>
        <p:nvSpPr>
          <p:cNvPr id="11" name="Chevron 10"/>
          <p:cNvSpPr/>
          <p:nvPr/>
        </p:nvSpPr>
        <p:spPr>
          <a:xfrm>
            <a:off x="3180080" y="3538728"/>
            <a:ext cx="250952" cy="329184"/>
          </a:xfrm>
          <a:prstGeom prst="chevron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2377440"/>
            <a:ext cx="2606040" cy="2651760"/>
          </a:xfrm>
          <a:prstGeom prst="rect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2377440"/>
            <a:ext cx="260604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633472"/>
            <a:ext cx="2203704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A23E"/>
                </a:solidFill>
                <a:latin typeface="Calibri"/>
              </a:rPr>
              <a:t>Fases 2–3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Análisis ético con 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7D3E3"/>
                </a:solidFill>
                <a:latin typeface="Calibri"/>
              </a:rPr>
              <a:t>La IA analiza cada requisito y propone tratamientos.</a:t>
            </a:r>
          </a:p>
        </p:txBody>
      </p:sp>
      <p:sp>
        <p:nvSpPr>
          <p:cNvPr id="15" name="Chevron 14"/>
          <p:cNvSpPr/>
          <p:nvPr/>
        </p:nvSpPr>
        <p:spPr>
          <a:xfrm>
            <a:off x="6087872" y="3538728"/>
            <a:ext cx="250952" cy="329184"/>
          </a:xfrm>
          <a:prstGeom prst="chevron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4224" y="2377440"/>
            <a:ext cx="2606040" cy="265176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2377440"/>
            <a:ext cx="260604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633472"/>
            <a:ext cx="2203704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A23E"/>
                </a:solidFill>
                <a:latin typeface="Calibri"/>
              </a:rPr>
              <a:t>Fases 4–6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Priorización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7D3E3"/>
                </a:solidFill>
                <a:latin typeface="Calibri"/>
              </a:rPr>
              <a:t>Se ponderan beneficios y riesgos → ranking.</a:t>
            </a:r>
          </a:p>
        </p:txBody>
      </p:sp>
      <p:sp>
        <p:nvSpPr>
          <p:cNvPr id="19" name="Chevron 18"/>
          <p:cNvSpPr/>
          <p:nvPr/>
        </p:nvSpPr>
        <p:spPr>
          <a:xfrm>
            <a:off x="8995664" y="3538728"/>
            <a:ext cx="250952" cy="329184"/>
          </a:xfrm>
          <a:prstGeom prst="chevron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72016" y="2377440"/>
            <a:ext cx="2606040" cy="2651760"/>
          </a:xfrm>
          <a:prstGeom prst="rect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2016" y="2377440"/>
            <a:ext cx="260604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2633472"/>
            <a:ext cx="2203704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A23E"/>
                </a:solidFill>
                <a:latin typeface="Calibri"/>
              </a:rPr>
              <a:t>Fases 7–8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Trazabilidad y tablero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7D3E3"/>
                </a:solidFill>
                <a:latin typeface="Calibri"/>
              </a:rPr>
              <a:t>Derivados, bandera ética y exportación.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2633"/>
                </a:solidFill>
                <a:latin typeface="Calibri"/>
              </a:rPr>
              <a:t>Hoy recorreremos las cuatro etapas de principio a fin. </a:t>
            </a:r>
            <a:r>
              <a:rPr sz="1500" b="1">
                <a:solidFill>
                  <a:srgbClr val="0F2447"/>
                </a:solidFill>
                <a:latin typeface="Calibri"/>
              </a:rPr>
              <a:t>El corazón del método son las Fases 2–6.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FASES 2–3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Análisis ético asistido por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2633"/>
                </a:solidFill>
                <a:latin typeface="Calibri"/>
              </a:rPr>
              <a:t>Por cada requisito, la IA produce un análisis en tres capas — y el humano lo revisa y edita.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088136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128016" cy="105156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96312"/>
            <a:ext cx="10332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447"/>
                </a:solidFill>
                <a:latin typeface="Calibri"/>
              </a:rPr>
              <a:t>Capa 1 · Identificación   </a:t>
            </a:r>
            <a:r>
              <a:rPr sz="1400" b="0">
                <a:solidFill>
                  <a:srgbClr val="5B6675"/>
                </a:solidFill>
                <a:latin typeface="Calibri"/>
              </a:rPr>
              <a:t>Tema ético, actor afectado, tipo de daño y norma tensionada, con citas reales a la normativa (EU AI Act, GDPR, leyes chilenas 19.628 y 20.609).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84448"/>
            <a:ext cx="1088136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84448"/>
            <a:ext cx="128016" cy="105156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332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447"/>
                </a:solidFill>
                <a:latin typeface="Calibri"/>
              </a:rPr>
              <a:t>Capa 2 · Análisis   </a:t>
            </a:r>
            <a:r>
              <a:rPr sz="1400" b="0">
                <a:solidFill>
                  <a:srgbClr val="5B6675"/>
                </a:solidFill>
                <a:latin typeface="Calibri"/>
              </a:rPr>
              <a:t>Mapa de stakeholders y tensiones entre valores (p. ej. utilidad vs. equidad).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91456"/>
            <a:ext cx="1088136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791456"/>
            <a:ext cx="128016" cy="105156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10328"/>
            <a:ext cx="10332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447"/>
                </a:solidFill>
                <a:latin typeface="Calibri"/>
              </a:rPr>
              <a:t>Capa 3 · Deliberación   </a:t>
            </a:r>
            <a:r>
              <a:rPr sz="1400" b="0">
                <a:solidFill>
                  <a:srgbClr val="5B6675"/>
                </a:solidFill>
                <a:latin typeface="Calibri"/>
              </a:rPr>
              <a:t>Opciones de tratamiento, reformulaciones, requisitos derivados y preguntas para decidir.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633"/>
                </a:solidFill>
                <a:latin typeface="Calibri"/>
              </a:rPr>
              <a:t>Decisiones posibles: </a:t>
            </a:r>
            <a:r>
              <a:rPr sz="1400" b="0">
                <a:solidFill>
                  <a:srgbClr val="0F2447"/>
                </a:solidFill>
                <a:latin typeface="Calibri"/>
              </a:rPr>
              <a:t>aceptar · reformular · mitigar · eliminar.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FASES 4–6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Priorización: cómo se calcula el puntaje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48640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B2633"/>
                </a:solidFill>
                <a:latin typeface="Calibri"/>
              </a:rPr>
              <a:t>Cada requisito se puntúa según cuánto aporta y cuánto arriesga.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A23E"/>
                </a:solidFill>
                <a:latin typeface="Calibri"/>
              </a:rPr>
              <a:t>•   </a:t>
            </a:r>
            <a:r>
              <a:rPr sz="1400" b="1">
                <a:solidFill>
                  <a:srgbClr val="0F2447"/>
                </a:solidFill>
                <a:latin typeface="Calibri"/>
              </a:rPr>
              <a:t>Dimensiones</a:t>
            </a:r>
            <a:r>
              <a:rPr sz="1400" b="0">
                <a:solidFill>
                  <a:srgbClr val="1B2633"/>
                </a:solidFill>
                <a:latin typeface="Calibri"/>
              </a:rPr>
              <a:t> — criterios con un </a:t>
            </a:r>
            <a:r>
              <a:rPr sz="1400" b="1">
                <a:solidFill>
                  <a:srgbClr val="1B2633"/>
                </a:solidFill>
                <a:latin typeface="Calibri"/>
              </a:rPr>
              <a:t>tipo</a:t>
            </a:r>
            <a:r>
              <a:rPr sz="1400" b="0">
                <a:solidFill>
                  <a:srgbClr val="1B2633"/>
                </a:solidFill>
                <a:latin typeface="Calibri"/>
              </a:rPr>
              <a:t> y un </a:t>
            </a:r>
            <a:r>
              <a:rPr sz="1400" b="1">
                <a:solidFill>
                  <a:srgbClr val="1B2633"/>
                </a:solidFill>
                <a:latin typeface="Calibri"/>
              </a:rPr>
              <a:t>peso 1–5.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9A23E"/>
                </a:solidFill>
                <a:latin typeface="Calibri"/>
              </a:rPr>
              <a:t>•   </a:t>
            </a:r>
            <a:r>
              <a:rPr sz="1400" b="1">
                <a:solidFill>
                  <a:srgbClr val="0F2447"/>
                </a:solidFill>
                <a:latin typeface="Calibri"/>
              </a:rPr>
              <a:t>Fuerza 0–5</a:t>
            </a:r>
            <a:r>
              <a:rPr sz="1400" b="0">
                <a:solidFill>
                  <a:srgbClr val="1B2633"/>
                </a:solidFill>
                <a:latin typeface="Calibri"/>
              </a:rPr>
              <a:t> — cuánto activa el requisito esa dimensión (0 = no aplica).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3E"/>
                </a:solidFill>
                <a:latin typeface="Calibri"/>
              </a:rPr>
              <a:t>•   </a:t>
            </a:r>
            <a:r>
              <a:rPr sz="1400" b="1">
                <a:solidFill>
                  <a:srgbClr val="1B2633"/>
                </a:solidFill>
                <a:latin typeface="Calibri"/>
              </a:rPr>
              <a:t>Suman:  </a:t>
            </a:r>
            <a:r>
              <a:rPr sz="1400" b="1">
                <a:solidFill>
                  <a:srgbClr val="1E7A4F"/>
                </a:solidFill>
                <a:latin typeface="Calibri"/>
              </a:rPr>
              <a:t>beneficio</a:t>
            </a:r>
            <a:r>
              <a:rPr sz="1400" b="0">
                <a:solidFill>
                  <a:srgbClr val="1B2633"/>
                </a:solidFill>
                <a:latin typeface="Calibri"/>
              </a:rPr>
              <a:t> y </a:t>
            </a:r>
            <a:r>
              <a:rPr sz="1400" b="1">
                <a:solidFill>
                  <a:srgbClr val="1E7A4F"/>
                </a:solidFill>
                <a:latin typeface="Calibri"/>
              </a:rPr>
              <a:t>valor ético.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C9A23E"/>
                </a:solidFill>
                <a:latin typeface="Calibri"/>
              </a:rPr>
              <a:t>•   </a:t>
            </a:r>
            <a:r>
              <a:rPr sz="1400" b="1">
                <a:solidFill>
                  <a:srgbClr val="1B2633"/>
                </a:solidFill>
                <a:latin typeface="Calibri"/>
              </a:rPr>
              <a:t>Restan:  </a:t>
            </a:r>
            <a:r>
              <a:rPr sz="1400" b="1">
                <a:solidFill>
                  <a:srgbClr val="B23B3B"/>
                </a:solidFill>
                <a:latin typeface="Calibri"/>
              </a:rPr>
              <a:t>costo</a:t>
            </a:r>
            <a:r>
              <a:rPr sz="1400" b="0">
                <a:solidFill>
                  <a:srgbClr val="1B2633"/>
                </a:solidFill>
                <a:latin typeface="Calibri"/>
              </a:rPr>
              <a:t> y </a:t>
            </a:r>
            <a:r>
              <a:rPr sz="1400" b="1">
                <a:solidFill>
                  <a:srgbClr val="B23B3B"/>
                </a:solidFill>
                <a:latin typeface="Calibri"/>
              </a:rPr>
              <a:t>riesgo ético.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447"/>
                </a:solidFill>
                <a:latin typeface="Calibri"/>
              </a:rPr>
              <a:t>La ética mueve el ranking: </a:t>
            </a:r>
            <a:r>
              <a:rPr sz="1400" b="0">
                <a:solidFill>
                  <a:srgbClr val="1B2633"/>
                </a:solidFill>
                <a:latin typeface="Calibri"/>
              </a:rPr>
              <a:t>un requisito muy útil pero riesgoso baja frente a otro más seguro.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120640" cy="356616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12064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526280" cy="3017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C9A23E"/>
                </a:solidFill>
                <a:latin typeface="Calibri"/>
              </a:rPr>
              <a:t>PUNTAJE FINAL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Σ (peso × fuerza) beneficio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9D7A0"/>
                </a:solidFill>
                <a:latin typeface="Calibri"/>
              </a:rPr>
              <a:t>+  Σ (peso × fuerza) valor ético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9D7A0"/>
                </a:solidFill>
                <a:latin typeface="Calibri"/>
              </a:rPr>
              <a:t>−  Σ (peso × fuerza) costo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9D7A0"/>
                </a:solidFill>
                <a:latin typeface="Calibri"/>
              </a:rPr>
              <a:t>−  Σ (peso × fuerza) riesgo ético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3E3"/>
                </a:solidFill>
                <a:latin typeface="Calibri"/>
              </a:rPr>
              <a:t>Determinista y auditable: mismos datos → mismo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FASES 7–8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Trazabilidad, bandera ética y tablero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28016" cy="123444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75104"/>
            <a:ext cx="103327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Trazabilidad de derivados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Cuando se mitiga un requisito, nacen requisitos derivados que quedan ligados a su origen. Si un derivado obligatorio queda por debajo de su padre, salta una alerta.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1088136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128016" cy="123444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92424"/>
            <a:ext cx="103327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Bandera ética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Cada requisito muestra en el tablero una señal derivada de su análisis: verde, atención o crítico.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1088136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128016" cy="123444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09744"/>
            <a:ext cx="103327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Tablero y exportación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Ranking, desglose por categoría y bandera en una sola vista; todo el proyecto se puede exportar (JSON / CSV) para auditar.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381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3E"/>
                </a:solidFill>
                <a:latin typeface="Calibri"/>
              </a:rPr>
              <a:t>UN EJEMPLO PARA VERLO CLARO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“MediTurno”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9D7A0"/>
                </a:solidFill>
                <a:latin typeface="Calibri"/>
              </a:rPr>
              <a:t>App que agenda y prioriza horas médicas con ayuda de IA.
Analizaremos dos de sus requisitos con el método.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B9C6D8"/>
                </a:solidFill>
                <a:latin typeface="Calibri"/>
              </a:rPr>
              <a:t>Ejemplo ilustrativo — distinto al caso que ustedes trabajarán en la actividad.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EJEMPLO · FASES 2–3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Qué detecta el análisis en cada requisito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881360" cy="214884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1188720" cy="214884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188720" cy="1783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9A23E"/>
                </a:solidFill>
                <a:latin typeface="Calibri"/>
              </a:rPr>
              <a:t>R1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828800"/>
            <a:ext cx="1371600" cy="365760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1828800"/>
            <a:ext cx="13716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Riesgo bajo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56232"/>
            <a:ext cx="7772400" cy="1691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Recordatorio de citas por SMS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Beneficio claro, sin datos sensibles ni decisiones automáticas. Refuerza el acceso.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10881360" cy="2148840"/>
          </a:xfrm>
          <a:prstGeom prst="rect">
            <a:avLst/>
          </a:prstGeom>
          <a:solidFill>
            <a:srgbClr val="F4F6F9"/>
          </a:solidFill>
          <a:ln w="12700">
            <a:solidFill>
              <a:srgbClr val="E9D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1188720" cy="214884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188720" cy="1783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9A23E"/>
                </a:solidFill>
                <a:latin typeface="Calibri"/>
              </a:rPr>
              <a:t>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4206240"/>
            <a:ext cx="1371600" cy="36576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4206240"/>
            <a:ext cx="13716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Riesgo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33672"/>
            <a:ext cx="7772400" cy="1691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Priorizar horas con un “score de riesgo” que usa edad, comuna y previsión de salud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Variables proxy → posible discriminación (equidad); usa datos de salud → privacidad. Norma tensionada: Ley 20.609 y Ley 19.628 / GDPR.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EJEMPLO · FASES 4–6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La priorización, con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633"/>
                </a:solidFill>
                <a:latin typeface="Calibri"/>
              </a:rPr>
              <a:t>Cuatro dimensiones (con su peso). Cada celda es la fuerza 0–5 del requisito en esa dimensión.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57400"/>
          <a:ext cx="1088136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1828800"/>
                <a:gridCol w="1691640"/>
                <a:gridCol w="1463040"/>
                <a:gridCol w="1691640"/>
                <a:gridCol w="109728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Requisito</a:t>
                      </a:r>
                    </a:p>
                  </a:txBody>
                  <a:tcPr anchor="ctr" marL="88900" marR="88900" marT="50800" marB="50800">
                    <a:solidFill>
                      <a:srgbClr val="0F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Valor paciente
benef. (5)</a:t>
                      </a:r>
                    </a:p>
                  </a:txBody>
                  <a:tcPr anchor="ctr" marL="88900" marR="88900" marT="50800" marB="50800">
                    <a:solidFill>
                      <a:srgbClr val="0F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Equidad
ético (4)</a:t>
                      </a:r>
                    </a:p>
                  </a:txBody>
                  <a:tcPr anchor="ctr" marL="88900" marR="88900" marT="50800" marB="50800">
                    <a:solidFill>
                      <a:srgbClr val="0F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Costo
costo (2)</a:t>
                      </a:r>
                    </a:p>
                  </a:txBody>
                  <a:tcPr anchor="ctr" marL="88900" marR="88900" marT="50800" marB="50800">
                    <a:solidFill>
                      <a:srgbClr val="0F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Privacidad
riesgo (4)</a:t>
                      </a:r>
                    </a:p>
                  </a:txBody>
                  <a:tcPr anchor="ctr" marL="88900" marR="88900" marT="50800" marB="50800">
                    <a:solidFill>
                      <a:srgbClr val="0F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Puntaje</a:t>
                      </a:r>
                    </a:p>
                  </a:txBody>
                  <a:tcPr anchor="ctr" marL="88900" marR="88900" marT="50800" marB="50800">
                    <a:solidFill>
                      <a:srgbClr val="0F2447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633"/>
                          </a:solidFill>
                          <a:latin typeface="Calibri"/>
                        </a:rPr>
                        <a:t>R1 · Recordatorio SMS</a:t>
                      </a:r>
                    </a:p>
                  </a:txBody>
                  <a:tcPr anchor="ctr" marL="88900" marR="889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8900" marR="889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A4F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88900" marR="88900" marT="50800" marB="50800">
                    <a:solidFill>
                      <a:srgbClr val="E9D7A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633"/>
                          </a:solidFill>
                          <a:latin typeface="Calibri"/>
                        </a:rPr>
                        <a:t>R2 · Score de riesgo</a:t>
                      </a:r>
                    </a:p>
                  </a:txBody>
                  <a:tcPr anchor="ctr" marL="88900" marR="88900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8900" marR="88900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8900" marR="88900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8900" marR="88900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23B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8900" marR="88900" marT="50800" marB="50800">
                    <a:solidFill>
                      <a:srgbClr val="E9D7A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86200"/>
            <a:ext cx="108813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633"/>
                </a:solidFill>
                <a:latin typeface="Calibri"/>
              </a:rPr>
              <a:t>R1 = (5×4)+(4×3)−(2×1)−(4×1) = 20+12−2−4 = </a:t>
            </a:r>
            <a:r>
              <a:rPr sz="1500" b="1">
                <a:solidFill>
                  <a:srgbClr val="1E7A4F"/>
                </a:solidFill>
                <a:latin typeface="Calibri"/>
              </a:rPr>
              <a:t>26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B2633"/>
                </a:solidFill>
                <a:latin typeface="Calibri"/>
              </a:rPr>
              <a:t>R2 = (5×5)+(4×1)−(2×3)−(4×5) = 25+4−6−20 = </a:t>
            </a:r>
            <a:r>
              <a:rPr sz="1500" b="1">
                <a:solidFill>
                  <a:srgbClr val="B23B3B"/>
                </a:solidFill>
                <a:latin typeface="Calibri"/>
              </a:rPr>
              <a:t>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447"/>
                </a:solidFill>
                <a:latin typeface="Calibri"/>
              </a:rPr>
              <a:t>Resultado: </a:t>
            </a:r>
            <a:r>
              <a:rPr sz="1500" b="0">
                <a:solidFill>
                  <a:srgbClr val="1B2633"/>
                </a:solidFill>
                <a:latin typeface="Calibri"/>
              </a:rPr>
              <a:t>R1 se prioriza sobre R2. El alto riesgo ético de R2 lo hace caer, pese a su utilidad.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10881360" cy="381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9A23E"/>
                </a:solidFill>
                <a:latin typeface="Calibri"/>
              </a:rPr>
              <a:t>LO QUE HARÁN USTEDES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Su rol en la sesión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675"/>
                </a:solidFill>
                <a:latin typeface="Calibri"/>
              </a:rPr>
              <a:t>Método de gestión ética y priorización de requisitos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A23E"/>
                </a:solidFill>
                <a:latin typeface="Calibr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502920" cy="822960"/>
          </a:xfrm>
          <a:prstGeom prst="ellipse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029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9A23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55648"/>
            <a:ext cx="100584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Reciben los requisitos ya escritos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No los definen: los analizan, tratan y priorizan con la app.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16352"/>
            <a:ext cx="502920" cy="822960"/>
          </a:xfrm>
          <a:prstGeom prst="ellipse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5029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9A23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100584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Recorren las fases 1 → 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Registro, análisis ético, priorización, trazabilidad y tablero.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95344"/>
            <a:ext cx="502920" cy="822960"/>
          </a:xfrm>
          <a:prstGeom prst="ellipse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95344"/>
            <a:ext cx="5029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9A23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13632"/>
            <a:ext cx="100584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Deciden el tratamiento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En al menos uno o dos requisitos: aceptar, reformular, mitigar o eliminar.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74336"/>
            <a:ext cx="502920" cy="822960"/>
          </a:xfrm>
          <a:prstGeom prst="ellipse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74336"/>
            <a:ext cx="5029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9A23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92624"/>
            <a:ext cx="100584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2447"/>
                </a:solidFill>
                <a:latin typeface="Calibri"/>
              </a:rPr>
              <a:t>Nos dan su mirada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5"/>
                </a:solidFill>
                <a:latin typeface="Calibri"/>
              </a:rPr>
              <a:t>Qué fue útil, qué confundió y qué riesgos les sorprendió que detectara.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1B2633"/>
                </a:solidFill>
                <a:latin typeface="Calibri"/>
              </a:rPr>
              <a:t>No hay respuestas correctas ni se evalúa su desempeño: evaluamos la herramienta.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60320"/>
            <a:ext cx="1280160" cy="76200"/>
          </a:xfrm>
          <a:prstGeom prst="rect">
            <a:avLst/>
          </a:prstGeom>
          <a:solidFill>
            <a:srgbClr val="C9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¿Comenzamos?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9D7A0"/>
                </a:solidFill>
                <a:latin typeface="Calibri"/>
              </a:rPr>
              <a:t>Gracias por ayudarnos a probar y mejorar el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9C6D8"/>
                </a:solidFill>
                <a:latin typeface="Calibri"/>
              </a:rPr>
              <a:t>Tesis · Nicolás Pérez   |   Universidad San Sebastián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